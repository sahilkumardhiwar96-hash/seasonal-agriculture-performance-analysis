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32" autoAdjust="0"/>
    <p:restoredTop sz="95033" autoAdjust="0"/>
  </p:normalViewPr>
  <p:slideViewPr>
    <p:cSldViewPr snapToGrid="0">
      <p:cViewPr varScale="1">
        <p:scale>
          <a:sx n="47" d="100"/>
          <a:sy n="47" d="100"/>
        </p:scale>
        <p:origin x="642"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750000"/>
            <a:ext cx="7709760" cy="861497"/>
          </a:xfrm>
        </p:spPr>
        <p:txBody>
          <a:bodyPr vert="horz" lIns="91440" tIns="45720" rIns="91440" bIns="45720" rtlCol="0" anchor="t">
            <a:normAutofit/>
          </a:bodyPr>
          <a:lstStyle/>
          <a:p>
            <a:r>
              <a:rPr lang="en-US" b="0" dirty="0">
                <a:solidFill>
                  <a:schemeClr val="tx1"/>
                </a:solidFill>
              </a:rPr>
              <a:t>Student Name - SAHIL KUMAR DHIWAR</a:t>
            </a:r>
            <a:endParaRPr lang="en-IN" b="0" dirty="0">
              <a:solidFill>
                <a:schemeClr val="tx1"/>
              </a:solidFill>
            </a:endParaRPr>
          </a:p>
          <a:p>
            <a:r>
              <a:rPr lang="en-US" b="0" dirty="0">
                <a:solidFill>
                  <a:schemeClr val="tx1"/>
                </a:solidFill>
              </a:rPr>
              <a:t>College Name – Chhattisgarh Institute of Technology </a:t>
            </a:r>
            <a:r>
              <a:rPr lang="en-US" b="0" dirty="0" err="1">
                <a:solidFill>
                  <a:schemeClr val="tx1"/>
                </a:solidFill>
              </a:rPr>
              <a:t>Jagdalpur</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900124"/>
            <a:ext cx="9235070" cy="650000"/>
          </a:xfrm>
        </p:spPr>
        <p:txBody>
          <a:bodyPr>
            <a:normAutofit fontScale="90000"/>
          </a:bodyPr>
          <a:lstStyle/>
          <a:p>
            <a:r>
              <a:rPr lang="en-GB" sz="2800" dirty="0"/>
              <a:t>Project Title - </a:t>
            </a:r>
            <a:r>
              <a:rPr lang="en-IN" sz="28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443394" cy="369332"/>
          </a:xfrm>
          <a:prstGeom prst="rect">
            <a:avLst/>
          </a:prstGeom>
          <a:noFill/>
        </p:spPr>
        <p:txBody>
          <a:bodyPr wrap="square" rtlCol="0">
            <a:spAutoFit/>
          </a:bodyPr>
          <a:lstStyle/>
          <a:p>
            <a:r>
              <a:rPr lang="en-US" b="1" dirty="0"/>
              <a:t>AICTE STU ID : (</a:t>
            </a:r>
            <a:r>
              <a:rPr lang="en-IN" sz="1800" b="0" i="0" u="none" strike="noStrike" baseline="0" dirty="0">
                <a:latin typeface="CIDFont+F3"/>
              </a:rPr>
              <a:t>STU6a16e528793f61779885352</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00079" y="2102230"/>
            <a:ext cx="7218369"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1000079" y="945471"/>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700000"/>
            <a:ext cx="5978396" cy="5500000"/>
          </a:xfrm>
        </p:spPr>
        <p:txBody>
          <a:bodyPr>
            <a:normAutofit fontScale="90000"/>
          </a:bodyPr>
          <a:lstStyle/>
          <a:p>
            <a:r>
              <a:rPr lang="en-GB" sz="3200" b="1" dirty="0"/>
              <a:t>Project Description</a:t>
            </a:r>
          </a:p>
          <a:p>
            <a:pPr algn="l">
              <a:lnSpc>
                <a:spcPct val="115000"/>
              </a:lnSpc>
              <a:spcBef>
                <a:spcPts val="1200"/>
              </a:spcBef>
            </a:pPr>
            <a:r>
              <a:rPr lang="en-GB" sz="1600" b="0" dirty="0"/>
              <a:t>This project, Seasonal Agriculture Performance Analysis, is a data analytics study of a farm-level agricultural dataset covering 4,000 records across the Kharif, Rabi and Zaid seasons, multiple states/districts, 8 crops and 4 irrigation methods.</a:t>
            </a:r>
          </a:p>
          <a:p>
            <a:pPr algn="l">
              <a:lnSpc>
                <a:spcPct val="115000"/>
              </a:lnSpc>
              <a:spcBef>
                <a:spcPts val="800"/>
              </a:spcBef>
            </a:pPr>
            <a:r>
              <a:rPr lang="en-GB" sz="1600" b="0" dirty="0"/>
              <a:t>The dataset combines environmental conditions (rainfall, temperature, humidity, soil health), farming inputs (fertilizer, pesticide, irrigation) and economic outcomes (cost, revenue, profit, ROI), enabling a season-wise view of agricultural performance.</a:t>
            </a:r>
          </a:p>
          <a:p>
            <a:pPr algn="l">
              <a:lnSpc>
                <a:spcPct val="115000"/>
              </a:lnSpc>
              <a:spcBef>
                <a:spcPts val="800"/>
              </a:spcBef>
            </a:pPr>
            <a:r>
              <a:rPr lang="en-GB" sz="1600" b="0" dirty="0"/>
              <a:t>Using Python (Pandas, NumPy, Matplotlib, Seaborn), the data was cleaned, explored and analyzed through univariate, bivariate, multivariate and correlation analysis, followed by three custom student-designed analyses (ROI by crop, irrigation efficiency, and environmental drivers of pest risk).</a:t>
            </a:r>
          </a:p>
          <a:p>
            <a:pPr algn="l">
              <a:lnSpc>
                <a:spcPct val="115000"/>
              </a:lnSpc>
              <a:spcBef>
                <a:spcPts val="800"/>
              </a:spcBef>
            </a:pPr>
            <a:r>
              <a:rPr lang="en-GB" sz="1600" b="0" dirty="0"/>
              <a:t>The end result is a set of evidence-based insights and recommendations to help stakeholders plan crops, irrigation and resources more effectively across seasons.</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120000"/>
            <a:ext cx="8334959" cy="4200000"/>
          </a:xfrm>
        </p:spPr>
        <p:txBody>
          <a:bodyPr>
            <a:normAutofit/>
          </a:bodyPr>
          <a:lstStyle/>
          <a:p>
            <a:pPr marL="342900" indent="-342900" algn="l">
              <a:lnSpc>
                <a:spcPct val="130000"/>
              </a:lnSpc>
              <a:spcBef>
                <a:spcPts val="1100"/>
              </a:spcBef>
              <a:buFont typeface="Arial" panose="020B0604020202020204" pitchFamily="34" charset="0"/>
              <a:buChar char="•"/>
            </a:pPr>
            <a:r>
              <a:rPr lang="en-US" sz="1700" b="1" dirty="0"/>
              <a:t>Farmers &amp; Agronomists</a:t>
            </a:r>
            <a:r>
              <a:rPr lang="en-US" sz="1700" dirty="0"/>
              <a:t> – compare seasonal performance and choose crops, irrigation methods and inputs more effectively.</a:t>
            </a:r>
          </a:p>
          <a:p>
            <a:pPr marL="342900" indent="-342900" algn="l">
              <a:lnSpc>
                <a:spcPct val="130000"/>
              </a:lnSpc>
              <a:spcBef>
                <a:spcPts val="1100"/>
              </a:spcBef>
              <a:buFont typeface="Arial" panose="020B0604020202020204" pitchFamily="34" charset="0"/>
              <a:buChar char="•"/>
            </a:pPr>
            <a:r>
              <a:rPr lang="en-US" sz="1700" b="1" dirty="0"/>
              <a:t>Agricultural Policy Makers &amp; Government Bodies</a:t>
            </a:r>
            <a:r>
              <a:rPr lang="en-US" sz="1700" dirty="0"/>
              <a:t> – support evidence-based seasonal planning and resource allocation.</a:t>
            </a:r>
          </a:p>
          <a:p>
            <a:pPr marL="342900" indent="-342900" algn="l">
              <a:lnSpc>
                <a:spcPct val="130000"/>
              </a:lnSpc>
              <a:spcBef>
                <a:spcPts val="1100"/>
              </a:spcBef>
              <a:buFont typeface="Arial" panose="020B0604020202020204" pitchFamily="34" charset="0"/>
              <a:buChar char="•"/>
            </a:pPr>
            <a:r>
              <a:rPr lang="en-US" sz="1700" b="1" dirty="0"/>
              <a:t>Agri-business &amp; Agri-tech Companies</a:t>
            </a:r>
            <a:r>
              <a:rPr lang="en-US" sz="1700" dirty="0"/>
              <a:t> – identify seasonal demand patterns and design targeted products/services.</a:t>
            </a:r>
          </a:p>
          <a:p>
            <a:pPr marL="342900" indent="-342900" algn="l">
              <a:lnSpc>
                <a:spcPct val="130000"/>
              </a:lnSpc>
              <a:spcBef>
                <a:spcPts val="1100"/>
              </a:spcBef>
              <a:buFont typeface="Arial" panose="020B0604020202020204" pitchFamily="34" charset="0"/>
              <a:buChar char="•"/>
            </a:pPr>
            <a:r>
              <a:rPr lang="en-US" sz="1700" b="1" dirty="0"/>
              <a:t>Financial &amp; Insurance Institutions</a:t>
            </a:r>
            <a:r>
              <a:rPr lang="en-US" sz="1700" dirty="0"/>
              <a:t> – assess seasonal risk and profitability for lending and crop insurance.</a:t>
            </a:r>
          </a:p>
          <a:p>
            <a:pPr marL="342900" indent="-342900" algn="l">
              <a:lnSpc>
                <a:spcPct val="130000"/>
              </a:lnSpc>
              <a:spcBef>
                <a:spcPts val="1100"/>
              </a:spcBef>
              <a:buFont typeface="Arial" panose="020B0604020202020204" pitchFamily="34" charset="0"/>
              <a:buChar char="•"/>
            </a:pPr>
            <a:r>
              <a:rPr lang="en-US" sz="1700" b="1" dirty="0"/>
              <a:t>Researchers &amp; Agricultural Universities</a:t>
            </a:r>
            <a:r>
              <a:rPr lang="en-US" sz="1700" dirty="0"/>
              <a:t> – study seasonal trends and environmental impact on productivity.</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00000" y="1432560"/>
            <a:ext cx="7518320" cy="4750000"/>
          </a:xfrm>
        </p:spPr>
        <p:txBody>
          <a:bodyPr>
            <a:normAutofit/>
          </a:bodyPr>
          <a:lstStyle/>
          <a:p>
            <a:pPr marL="342900" indent="-342900" algn="l">
              <a:lnSpc>
                <a:spcPct val="130000"/>
              </a:lnSpc>
              <a:spcBef>
                <a:spcPts val="1400"/>
              </a:spcBef>
              <a:buFont typeface="Arial" panose="020B0604020202020204" pitchFamily="34" charset="0"/>
              <a:buChar char="•"/>
            </a:pPr>
            <a:r>
              <a:rPr lang="en-US" sz="1900" b="1" dirty="0"/>
              <a:t>Python</a:t>
            </a:r>
            <a:r>
              <a:rPr lang="en-US" sz="1900" dirty="0"/>
              <a:t> – core </a:t>
            </a:r>
            <a:r>
              <a:rPr lang="en-US" sz="1900" dirty="0" err="1"/>
              <a:t>programming</a:t>
            </a:r>
            <a:r>
              <a:rPr lang="en-US" sz="1900" dirty="0"/>
              <a:t> language for the analysis.</a:t>
            </a:r>
          </a:p>
          <a:p>
            <a:pPr>
              <a:lnSpc>
                <a:spcPct val="130000"/>
              </a:lnSpc>
              <a:spcBef>
                <a:spcPts val="1400"/>
              </a:spcBef>
              <a:buFont typeface="Arial" panose="020B0604020202020204" pitchFamily="34" charset="0"/>
              <a:buChar char="•"/>
            </a:pPr>
            <a:r>
              <a:rPr lang="en-US" sz="1900" b="1" dirty="0"/>
              <a:t>Pandas &amp; NumPy</a:t>
            </a:r>
            <a:r>
              <a:rPr lang="en-US" sz="1900" dirty="0"/>
              <a:t> – data loading, cleaning and </a:t>
            </a:r>
            <a:r>
              <a:rPr lang="en-US" sz="1900" dirty="0" err="1"/>
              <a:t>numerical</a:t>
            </a:r>
            <a:r>
              <a:rPr lang="en-US" sz="1900" dirty="0"/>
              <a:t> computation.</a:t>
            </a:r>
          </a:p>
          <a:p>
            <a:pPr marL="342900" indent="-342900" algn="l">
              <a:lnSpc>
                <a:spcPct val="130000"/>
              </a:lnSpc>
              <a:spcBef>
                <a:spcPts val="1400"/>
              </a:spcBef>
              <a:buFont typeface="Arial" panose="020B0604020202020204" pitchFamily="34" charset="0"/>
              <a:buChar char="•"/>
            </a:pPr>
            <a:r>
              <a:rPr lang="en-US" sz="1900" b="1" dirty="0"/>
              <a:t>Matplotlib &amp; Seaborn</a:t>
            </a:r>
            <a:r>
              <a:rPr lang="en-US" sz="1900" dirty="0"/>
              <a:t> – univariate, bivariate, multivariate and correlation visualizations.</a:t>
            </a:r>
          </a:p>
          <a:p>
            <a:pPr marL="342900" indent="-342900" algn="l">
              <a:lnSpc>
                <a:spcPct val="130000"/>
              </a:lnSpc>
              <a:spcBef>
                <a:spcPts val="1400"/>
              </a:spcBef>
              <a:buFont typeface="Arial" panose="020B0604020202020204" pitchFamily="34" charset="0"/>
              <a:buChar char="•"/>
            </a:pPr>
            <a:r>
              <a:rPr lang="en-US" sz="1900" b="1" dirty="0"/>
              <a:t>Google Colab</a:t>
            </a:r>
            <a:r>
              <a:rPr lang="en-US" sz="1900" dirty="0"/>
              <a:t> – interactive development and documentation environment.</a:t>
            </a:r>
          </a:p>
          <a:p>
            <a:pPr marL="342900" indent="-342900" algn="l">
              <a:lnSpc>
                <a:spcPct val="130000"/>
              </a:lnSpc>
              <a:spcBef>
                <a:spcPts val="1400"/>
              </a:spcBef>
              <a:buFont typeface="Arial" panose="020B0604020202020204" pitchFamily="34" charset="0"/>
              <a:buChar char="•"/>
            </a:pPr>
            <a:r>
              <a:rPr lang="en-US" sz="1900" b="1" dirty="0"/>
              <a:t>CSV Dataset</a:t>
            </a:r>
            <a:r>
              <a:rPr lang="en-US" sz="1900" dirty="0"/>
              <a:t> – seasonal agriculture performance dataset with 4,000 records and 28 features.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32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fontScale="90000"/>
          </a:bodyPr>
          <a:lstStyle/>
          <a:p>
            <a:r>
              <a:rPr lang="en-GB" dirty="0"/>
              <a:t>RESULTS  </a:t>
            </a:r>
            <a:r>
              <a:rPr lang="en-GB" sz="1800" dirty="0"/>
              <a:t>Data Cleaning &amp; Outlier Detection</a:t>
            </a:r>
            <a:endParaRPr lang="en-IN" sz="1800" dirty="0"/>
          </a:p>
        </p:txBody>
      </p:sp>
      <p:sp>
        <p:nvSpPr>
          <p:cNvPr id="24" name="TextBox 23"/>
          <p:cNvSpPr txBox="1"/>
          <p:nvPr/>
        </p:nvSpPr>
        <p:spPr>
          <a:xfrm>
            <a:off x="500000" y="2100000"/>
            <a:ext cx="8800000" cy="620000"/>
          </a:xfrm>
          <a:prstGeom prst="rect">
            <a:avLst/>
          </a:prstGeom>
          <a:noFill/>
        </p:spPr>
        <p:txBody>
          <a:bodyPr wrap="square">
            <a:spAutoFit/>
          </a:bodyPr>
          <a:lstStyle/>
          <a:p>
            <a:pPr algn="l"/>
            <a:r>
              <a:rPr sz="1400" dirty="0"/>
              <a:t>Boxplots were used to detect outliers in Yield, Total Cost and Revenue. Missing values in Rainfall, Yield and Soil Moisture were imputed using season/crop-wise medians, and duplicate records were removed before analysis.</a:t>
            </a:r>
          </a:p>
        </p:txBody>
      </p:sp>
      <p:pic>
        <p:nvPicPr>
          <p:cNvPr id="25" name="Picture 24" descr="cell12_out0.png"/>
          <p:cNvPicPr>
            <a:picLocks noChangeAspect="1"/>
          </p:cNvPicPr>
          <p:nvPr/>
        </p:nvPicPr>
        <p:blipFill>
          <a:blip r:embed="rId3"/>
          <a:stretch>
            <a:fillRect/>
          </a:stretch>
        </p:blipFill>
        <p:spPr>
          <a:xfrm>
            <a:off x="500000" y="3129959"/>
            <a:ext cx="8800000" cy="287008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fontScale="90000"/>
          </a:bodyPr>
          <a:lstStyle/>
          <a:p>
            <a:r>
              <a:rPr lang="en-GB" dirty="0"/>
              <a:t>RESULTS </a:t>
            </a:r>
            <a:r>
              <a:rPr lang="en-GB" sz="2200" dirty="0"/>
              <a:t>Univariate Analysis</a:t>
            </a:r>
            <a:endParaRPr lang="en-IN" dirty="0"/>
          </a:p>
        </p:txBody>
      </p:sp>
      <p:sp>
        <p:nvSpPr>
          <p:cNvPr id="31" name="TextBox 30"/>
          <p:cNvSpPr txBox="1"/>
          <p:nvPr/>
        </p:nvSpPr>
        <p:spPr>
          <a:xfrm>
            <a:off x="500000" y="2100000"/>
            <a:ext cx="8800000" cy="620000"/>
          </a:xfrm>
          <a:prstGeom prst="rect">
            <a:avLst/>
          </a:prstGeom>
          <a:noFill/>
        </p:spPr>
        <p:txBody>
          <a:bodyPr wrap="square">
            <a:spAutoFit/>
          </a:bodyPr>
          <a:lstStyle/>
          <a:p>
            <a:pPr algn="l"/>
            <a:r>
              <a:rPr sz="1400" dirty="0"/>
              <a:t>Kharif is the most common farming season, followed by Rabi and Zaid. Profit is right-skewed: most farms earn modest profits, while a smaller number of high performers pull the distribution's tail to the right.</a:t>
            </a:r>
          </a:p>
        </p:txBody>
      </p:sp>
      <p:pic>
        <p:nvPicPr>
          <p:cNvPr id="32" name="Picture 31" descr="cell13_out0.png"/>
          <p:cNvPicPr>
            <a:picLocks noChangeAspect="1"/>
          </p:cNvPicPr>
          <p:nvPr/>
        </p:nvPicPr>
        <p:blipFill>
          <a:blip r:embed="rId3"/>
          <a:stretch>
            <a:fillRect/>
          </a:stretch>
        </p:blipFill>
        <p:spPr>
          <a:xfrm>
            <a:off x="500000" y="3384300"/>
            <a:ext cx="4200000" cy="2361398"/>
          </a:xfrm>
          <a:prstGeom prst="rect">
            <a:avLst/>
          </a:prstGeom>
        </p:spPr>
      </p:pic>
      <p:pic>
        <p:nvPicPr>
          <p:cNvPr id="33" name="Picture 32" descr="cell13_out1.png"/>
          <p:cNvPicPr>
            <a:picLocks noChangeAspect="1"/>
          </p:cNvPicPr>
          <p:nvPr/>
        </p:nvPicPr>
        <p:blipFill>
          <a:blip r:embed="rId4"/>
          <a:stretch>
            <a:fillRect/>
          </a:stretch>
        </p:blipFill>
        <p:spPr>
          <a:xfrm>
            <a:off x="5100000" y="3384300"/>
            <a:ext cx="4200000" cy="236139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arn(inVertical)">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fontScale="90000"/>
          </a:bodyPr>
          <a:lstStyle/>
          <a:p>
            <a:r>
              <a:rPr lang="en-GB" dirty="0"/>
              <a:t>RESULTS – </a:t>
            </a:r>
            <a:r>
              <a:rPr lang="en-GB" sz="2200" dirty="0"/>
              <a:t>Bivariate &amp; Correlation Analysis</a:t>
            </a:r>
            <a:endParaRPr lang="en-IN" sz="2200" dirty="0"/>
          </a:p>
        </p:txBody>
      </p:sp>
      <p:sp>
        <p:nvSpPr>
          <p:cNvPr id="31" name="TextBox 30"/>
          <p:cNvSpPr txBox="1"/>
          <p:nvPr/>
        </p:nvSpPr>
        <p:spPr>
          <a:xfrm>
            <a:off x="500000" y="2100000"/>
            <a:ext cx="8800000" cy="620000"/>
          </a:xfrm>
          <a:prstGeom prst="rect">
            <a:avLst/>
          </a:prstGeom>
          <a:noFill/>
        </p:spPr>
        <p:txBody>
          <a:bodyPr wrap="square">
            <a:spAutoFit/>
          </a:bodyPr>
          <a:lstStyle/>
          <a:p>
            <a:pPr algn="l"/>
            <a:r>
              <a:rPr sz="1400"/>
              <a:t>Sugarcane and Chilli generate the highest average profit; Wheat, Maize and Rice show low or negative returns. The correlation heatmap confirms strong positive links between Yield, Production, Revenue and Profit.</a:t>
            </a:r>
          </a:p>
        </p:txBody>
      </p:sp>
      <p:pic>
        <p:nvPicPr>
          <p:cNvPr id="32" name="Picture 31" descr="cell14_out0.png"/>
          <p:cNvPicPr>
            <a:picLocks noChangeAspect="1"/>
          </p:cNvPicPr>
          <p:nvPr/>
        </p:nvPicPr>
        <p:blipFill>
          <a:blip r:embed="rId3"/>
          <a:stretch>
            <a:fillRect/>
          </a:stretch>
        </p:blipFill>
        <p:spPr>
          <a:xfrm>
            <a:off x="500000" y="3308307"/>
            <a:ext cx="4200000" cy="2513385"/>
          </a:xfrm>
          <a:prstGeom prst="rect">
            <a:avLst/>
          </a:prstGeom>
        </p:spPr>
      </p:pic>
      <p:pic>
        <p:nvPicPr>
          <p:cNvPr id="33" name="Picture 32" descr="cell16_out0.png"/>
          <p:cNvPicPr>
            <a:picLocks noChangeAspect="1"/>
          </p:cNvPicPr>
          <p:nvPr/>
        </p:nvPicPr>
        <p:blipFill>
          <a:blip r:embed="rId4"/>
          <a:stretch>
            <a:fillRect/>
          </a:stretch>
        </p:blipFill>
        <p:spPr>
          <a:xfrm>
            <a:off x="5100000" y="2890848"/>
            <a:ext cx="4200000" cy="334830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fontScale="90000"/>
          </a:bodyPr>
          <a:lstStyle/>
          <a:p>
            <a:r>
              <a:rPr lang="en-GB" dirty="0"/>
              <a:t>RESULTS </a:t>
            </a:r>
            <a:r>
              <a:rPr lang="en-GB" sz="2200" dirty="0"/>
              <a:t>Seasonal Performance Comparison</a:t>
            </a:r>
            <a:endParaRPr lang="en-IN" dirty="0"/>
          </a:p>
        </p:txBody>
      </p:sp>
      <p:sp>
        <p:nvSpPr>
          <p:cNvPr id="31" name="TextBox 30"/>
          <p:cNvSpPr txBox="1"/>
          <p:nvPr/>
        </p:nvSpPr>
        <p:spPr>
          <a:xfrm>
            <a:off x="500000" y="2100000"/>
            <a:ext cx="8800000" cy="620000"/>
          </a:xfrm>
          <a:prstGeom prst="rect">
            <a:avLst/>
          </a:prstGeom>
          <a:noFill/>
        </p:spPr>
        <p:txBody>
          <a:bodyPr wrap="square">
            <a:spAutoFit/>
          </a:bodyPr>
          <a:lstStyle/>
          <a:p>
            <a:pPr algn="l"/>
            <a:r>
              <a:rPr sz="1400"/>
              <a:t>Kharif delivers the highest average yield and profit but carries the highest pest/disease risk. Zaid needs the most irrigation water despite the lowest yield and profit — often resulting in financial loss.</a:t>
            </a:r>
          </a:p>
        </p:txBody>
      </p:sp>
      <p:pic>
        <p:nvPicPr>
          <p:cNvPr id="32" name="Picture 31" descr="cell17_out1.png"/>
          <p:cNvPicPr>
            <a:picLocks noChangeAspect="1"/>
          </p:cNvPicPr>
          <p:nvPr/>
        </p:nvPicPr>
        <p:blipFill>
          <a:blip r:embed="rId3"/>
          <a:stretch>
            <a:fillRect/>
          </a:stretch>
        </p:blipFill>
        <p:spPr>
          <a:xfrm>
            <a:off x="2386836" y="2780000"/>
            <a:ext cx="5026327" cy="3570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257082"/>
            <a:ext cx="2981643" cy="830997"/>
          </a:xfrm>
        </p:spPr>
        <p:txBody>
          <a:bodyPr>
            <a:normAutofit fontScale="90000"/>
          </a:bodyPr>
          <a:lstStyle/>
          <a:p>
            <a:r>
              <a:rPr lang="en-GB" dirty="0"/>
              <a:t>RESULTS – </a:t>
            </a:r>
            <a:r>
              <a:rPr lang="en-GB" sz="2200" dirty="0"/>
              <a:t>Custom Analysis: ROI, Irrigation &amp; Pest Risk</a:t>
            </a:r>
            <a:endParaRPr lang="en-IN" sz="2200" dirty="0"/>
          </a:p>
        </p:txBody>
      </p:sp>
      <p:sp>
        <p:nvSpPr>
          <p:cNvPr id="31" name="TextBox 30"/>
          <p:cNvSpPr txBox="1"/>
          <p:nvPr/>
        </p:nvSpPr>
        <p:spPr>
          <a:xfrm>
            <a:off x="500000" y="2100000"/>
            <a:ext cx="8800000" cy="620000"/>
          </a:xfrm>
          <a:prstGeom prst="rect">
            <a:avLst/>
          </a:prstGeom>
          <a:noFill/>
        </p:spPr>
        <p:txBody>
          <a:bodyPr wrap="square">
            <a:spAutoFit/>
          </a:bodyPr>
          <a:lstStyle/>
          <a:p>
            <a:pPr algn="l"/>
            <a:r>
              <a:rPr sz="1300"/>
              <a:t>Sugarcane and Chilli offer the highest ROI. Drip irrigation gives more consistent water efficiency than flood irrigation. Pest/disease risk rises sharply with humidity, peaking in the humid Kharif season.</a:t>
            </a:r>
          </a:p>
        </p:txBody>
      </p:sp>
      <p:pic>
        <p:nvPicPr>
          <p:cNvPr id="32" name="Picture 31" descr="cell18_out1.png"/>
          <p:cNvPicPr>
            <a:picLocks noChangeAspect="1"/>
          </p:cNvPicPr>
          <p:nvPr/>
        </p:nvPicPr>
        <p:blipFill>
          <a:blip r:embed="rId3"/>
          <a:stretch>
            <a:fillRect/>
          </a:stretch>
        </p:blipFill>
        <p:spPr>
          <a:xfrm>
            <a:off x="500000" y="2801784"/>
            <a:ext cx="4200000" cy="1956431"/>
          </a:xfrm>
          <a:prstGeom prst="rect">
            <a:avLst/>
          </a:prstGeom>
        </p:spPr>
      </p:pic>
      <p:pic>
        <p:nvPicPr>
          <p:cNvPr id="33" name="Picture 32" descr="cell18_out3.png"/>
          <p:cNvPicPr>
            <a:picLocks noChangeAspect="1"/>
          </p:cNvPicPr>
          <p:nvPr/>
        </p:nvPicPr>
        <p:blipFill>
          <a:blip r:embed="rId4"/>
          <a:stretch>
            <a:fillRect/>
          </a:stretch>
        </p:blipFill>
        <p:spPr>
          <a:xfrm>
            <a:off x="5468656" y="2780000"/>
            <a:ext cx="3462686" cy="2000000"/>
          </a:xfrm>
          <a:prstGeom prst="rect">
            <a:avLst/>
          </a:prstGeom>
        </p:spPr>
      </p:pic>
      <p:pic>
        <p:nvPicPr>
          <p:cNvPr id="34" name="Picture 33" descr="cell18_out5.png"/>
          <p:cNvPicPr>
            <a:picLocks noChangeAspect="1"/>
          </p:cNvPicPr>
          <p:nvPr/>
        </p:nvPicPr>
        <p:blipFill>
          <a:blip r:embed="rId5"/>
          <a:stretch>
            <a:fillRect/>
          </a:stretch>
        </p:blipFill>
        <p:spPr>
          <a:xfrm>
            <a:off x="3123233" y="4930000"/>
            <a:ext cx="3553532" cy="142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24" name="TextBox 23"/>
          <p:cNvSpPr txBox="1"/>
          <p:nvPr/>
        </p:nvSpPr>
        <p:spPr>
          <a:xfrm>
            <a:off x="700000" y="2150000"/>
            <a:ext cx="7900000" cy="4100000"/>
          </a:xfrm>
          <a:prstGeom prst="rect">
            <a:avLst/>
          </a:prstGeom>
          <a:noFill/>
        </p:spPr>
        <p:txBody>
          <a:bodyPr wrap="square">
            <a:spAutoFit/>
          </a:bodyPr>
          <a:lstStyle/>
          <a:p>
            <a:pPr algn="l">
              <a:spcBef>
                <a:spcPts val="1000"/>
              </a:spcBef>
            </a:pPr>
            <a:r>
              <a:rPr sz="1700" b="1" dirty="0"/>
              <a:t>•  Predictive Modeling: </a:t>
            </a:r>
            <a:r>
              <a:rPr sz="1700" dirty="0"/>
              <a:t>build ML models to forecast yield and profit based on season, crop and environmental conditions.</a:t>
            </a:r>
          </a:p>
          <a:p>
            <a:pPr algn="l">
              <a:spcBef>
                <a:spcPts val="1000"/>
              </a:spcBef>
            </a:pPr>
            <a:r>
              <a:rPr sz="1700" b="1" dirty="0"/>
              <a:t>•  Real-Time Data Integration: </a:t>
            </a:r>
            <a:r>
              <a:rPr sz="1700" dirty="0"/>
              <a:t>connect live weather and market-price APIs to keep recommendations current.</a:t>
            </a:r>
          </a:p>
          <a:p>
            <a:pPr algn="l">
              <a:spcBef>
                <a:spcPts val="1000"/>
              </a:spcBef>
            </a:pPr>
            <a:r>
              <a:rPr sz="1700" b="1" dirty="0"/>
              <a:t>•  Farmer-Facing Dashboard: </a:t>
            </a:r>
            <a:r>
              <a:rPr sz="1700" dirty="0"/>
              <a:t>turn the analysis into an interactive web/mobile app for farmers and advisors.</a:t>
            </a:r>
          </a:p>
          <a:p>
            <a:pPr algn="l">
              <a:spcBef>
                <a:spcPts val="1000"/>
              </a:spcBef>
            </a:pPr>
            <a:r>
              <a:rPr sz="1700" b="1" dirty="0"/>
              <a:t>•  Richer, Multi-Year Data: </a:t>
            </a:r>
            <a:r>
              <a:rPr sz="1700" dirty="0"/>
              <a:t>extend the dataset to track long-term soil health and extreme weather events.</a:t>
            </a:r>
          </a:p>
          <a:p>
            <a:pPr algn="l">
              <a:spcBef>
                <a:spcPts val="1000"/>
              </a:spcBef>
            </a:pPr>
            <a:r>
              <a:rPr sz="1700" b="1" dirty="0"/>
              <a:t>•  Region-Specific Climate Risk Models: </a:t>
            </a:r>
            <a:r>
              <a:rPr sz="1700" dirty="0"/>
              <a:t>tailor pest and water-risk predictions to local </a:t>
            </a:r>
            <a:r>
              <a:rPr sz="1700" dirty="0" err="1"/>
              <a:t>agro</a:t>
            </a:r>
            <a:r>
              <a:rPr sz="1700" dirty="0"/>
              <a:t>-climatic zones.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2150000"/>
            <a:ext cx="6836465" cy="646331"/>
          </a:xfrm>
          <a:prstGeom prst="rect">
            <a:avLst/>
          </a:prstGeom>
          <a:noFill/>
        </p:spPr>
        <p:txBody>
          <a:bodyPr wrap="square">
            <a:spAutoFit/>
          </a:bodyPr>
          <a:lstStyle/>
          <a:p>
            <a:r>
              <a:rPr lang="en-US" dirty="0"/>
              <a:t>https://github.com/sahilkumardhiwar96-hash/Seasonal-Agriculture-Performance-Analysis.git</a:t>
            </a:r>
          </a:p>
        </p:txBody>
      </p:sp>
    </p:spTree>
    <p:extLst>
      <p:ext uri="{BB962C8B-B14F-4D97-AF65-F5344CB8AC3E}">
        <p14:creationId xmlns:p14="http://schemas.microsoft.com/office/powerpoint/2010/main" val="3863610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165478"/>
            <a:ext cx="7656473" cy="666078"/>
          </a:xfrm>
        </p:spPr>
        <p:txBody>
          <a:bodyPr>
            <a:normAutofit fontScale="90000"/>
          </a:bodyPr>
          <a:lstStyle/>
          <a:p>
            <a:r>
              <a:rPr lang="en-IN" sz="3200" dirty="0"/>
              <a:t>VOIS Course completion certificate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3E2E814-F642-4007-94A2-C33691C05FF4}"/>
              </a:ext>
            </a:extLst>
          </p:cNvPr>
          <p:cNvPicPr>
            <a:picLocks noChangeAspect="1"/>
          </p:cNvPicPr>
          <p:nvPr/>
        </p:nvPicPr>
        <p:blipFill>
          <a:blip r:embed="rId3"/>
          <a:stretch>
            <a:fillRect/>
          </a:stretch>
        </p:blipFill>
        <p:spPr>
          <a:xfrm>
            <a:off x="675956" y="1175760"/>
            <a:ext cx="7656473" cy="539268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079351"/>
            <a:ext cx="11340000" cy="700114"/>
          </a:xfrm>
          <a:prstGeom prst="rect">
            <a:avLst/>
          </a:prstGeom>
        </p:spPr>
        <p:txBody>
          <a:bodyPr anchor="ctr">
            <a:normAutofit fontScale="90000"/>
          </a:bodyPr>
          <a:lstStyle/>
          <a:p>
            <a:pPr algn="ctr"/>
            <a:r>
              <a:rPr lang="en-US" sz="4800" b="1" dirty="0">
                <a:solidFill>
                  <a:schemeClr val="tx1"/>
                </a:solidFill>
                <a:latin typeface="Agency FB" panose="020B0503020202020204" pitchFamily="34" charset="0"/>
              </a:rPr>
              <a:t>Thank you !</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1470</TotalTime>
  <Words>764</Words>
  <Application>Microsoft Office PowerPoint</Application>
  <PresentationFormat>Widescreen</PresentationFormat>
  <Paragraphs>46</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Agency FB</vt:lpstr>
      <vt:lpstr>Arial</vt:lpstr>
      <vt:lpstr>Calibri</vt:lpstr>
      <vt:lpstr>CIDFont+F3</vt:lpstr>
      <vt:lpstr>Trebuchet MS</vt:lpstr>
      <vt:lpstr>Wingdings</vt:lpstr>
      <vt:lpstr>Wingdings 3</vt:lpstr>
      <vt:lpstr>Facet</vt:lpstr>
      <vt:lpstr>Project Title - Seasonal Agriculture Performance Analysis</vt:lpstr>
      <vt:lpstr>PROBLEM  STATEMENT</vt:lpstr>
      <vt:lpstr>Project Description This project, Seasonal Agriculture Performance Analysis, is a data analytics study of a farm-level agricultural dataset covering 4,000 records across the Kharif, Rabi and Zaid seasons, multiple states/districts, 8 crops and 4 irrigation methods. The dataset combines environmental conditions (rainfall, temperature, humidity, soil health), farming inputs (fertilizer, pesticide, irrigation) and economic outcomes (cost, revenue, profit, ROI), enabling a season-wise view of agricultural performance. Using Python (Pandas, NumPy, Matplotlib, Seaborn), the data was cleaned, explored and analyzed through univariate, bivariate, multivariate and correlation analysis, followed by three custom student-designed analyses (ROI by crop, irrigation efficiency, and environmental drivers of pest risk). The end result is a set of evidence-based insights and recommendations to help stakeholders plan crops, irrigation and resources more effectively across seasons.</vt:lpstr>
      <vt:lpstr>WHO ARE THE END USERS?</vt:lpstr>
      <vt:lpstr>Technology Used</vt:lpstr>
      <vt:lpstr>RESULTS  Data Cleaning &amp; Outlier Detection</vt:lpstr>
      <vt:lpstr>RESULTS Univariate Analysis</vt:lpstr>
      <vt:lpstr>RESULTS – Bivariate &amp; Correlation Analysis</vt:lpstr>
      <vt:lpstr>RESULTS Seasonal Performance Comparison</vt:lpstr>
      <vt:lpstr>RESULTS – Custom Analysis: ROI, Irrigation &amp; Pest Risk</vt:lpstr>
      <vt:lpstr>Future scope</vt:lpstr>
      <vt:lpstr>GitHub Link</vt:lpstr>
      <vt:lpstr>VOIS Course completion certificate  Course name- Data Visualization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Owner</cp:lastModifiedBy>
  <cp:revision>103</cp:revision>
  <dcterms:created xsi:type="dcterms:W3CDTF">2021-07-11T13:13:15Z</dcterms:created>
  <dcterms:modified xsi:type="dcterms:W3CDTF">2026-09-13T15:55:02Z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